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6"/>
  </p:notes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86077" autoAdjust="0"/>
  </p:normalViewPr>
  <p:slideViewPr>
    <p:cSldViewPr snapToGrid="0">
      <p:cViewPr varScale="1">
        <p:scale>
          <a:sx n="80" d="100"/>
          <a:sy n="80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[deloite analysis.xlsx]Sheet5!PivotTable4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 i="0">
                <a:effectLst/>
              </a:rPr>
              <a:t>Location-Based Rating Analysis</a:t>
            </a:r>
          </a:p>
          <a:p>
            <a:pPr>
              <a:defRPr/>
            </a:pPr>
            <a:br>
              <a:rPr lang="en-US"/>
            </a:b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Sheet5!$A$2:$A$89</c:f>
              <c:strCache>
                <c:ptCount val="87"/>
                <c:pt idx="0">
                  <c:v>Ward 97</c:v>
                </c:pt>
                <c:pt idx="1">
                  <c:v>Ward 96</c:v>
                </c:pt>
                <c:pt idx="2">
                  <c:v>Ward 94</c:v>
                </c:pt>
                <c:pt idx="3">
                  <c:v>Ward 92</c:v>
                </c:pt>
                <c:pt idx="4">
                  <c:v>Ward 9</c:v>
                </c:pt>
                <c:pt idx="5">
                  <c:v>Ward 89</c:v>
                </c:pt>
                <c:pt idx="6">
                  <c:v>Ward 86</c:v>
                </c:pt>
                <c:pt idx="7">
                  <c:v>Ward 85</c:v>
                </c:pt>
                <c:pt idx="8">
                  <c:v>Ward 84</c:v>
                </c:pt>
                <c:pt idx="9">
                  <c:v>Ward 83</c:v>
                </c:pt>
                <c:pt idx="10">
                  <c:v>Ward 82</c:v>
                </c:pt>
                <c:pt idx="11">
                  <c:v>Ward 8</c:v>
                </c:pt>
                <c:pt idx="12">
                  <c:v>Ward 78</c:v>
                </c:pt>
                <c:pt idx="13">
                  <c:v>Ward 77</c:v>
                </c:pt>
                <c:pt idx="14">
                  <c:v>Ward 76</c:v>
                </c:pt>
                <c:pt idx="15">
                  <c:v>Ward 75</c:v>
                </c:pt>
                <c:pt idx="16">
                  <c:v>Ward 74</c:v>
                </c:pt>
                <c:pt idx="17">
                  <c:v>Ward 73</c:v>
                </c:pt>
                <c:pt idx="18">
                  <c:v>Ward 72</c:v>
                </c:pt>
                <c:pt idx="19">
                  <c:v>Ward 71</c:v>
                </c:pt>
                <c:pt idx="20">
                  <c:v>Ward 70</c:v>
                </c:pt>
                <c:pt idx="21">
                  <c:v>Ward 7</c:v>
                </c:pt>
                <c:pt idx="22">
                  <c:v>Ward 69</c:v>
                </c:pt>
                <c:pt idx="23">
                  <c:v>Ward 68</c:v>
                </c:pt>
                <c:pt idx="24">
                  <c:v>Ward 67</c:v>
                </c:pt>
                <c:pt idx="25">
                  <c:v>Ward 66</c:v>
                </c:pt>
                <c:pt idx="26">
                  <c:v>Ward 65</c:v>
                </c:pt>
                <c:pt idx="27">
                  <c:v>Ward 64</c:v>
                </c:pt>
                <c:pt idx="28">
                  <c:v>Ward 63</c:v>
                </c:pt>
                <c:pt idx="29">
                  <c:v>Ward 62</c:v>
                </c:pt>
                <c:pt idx="30">
                  <c:v>Ward 61</c:v>
                </c:pt>
                <c:pt idx="31">
                  <c:v>Ward 60</c:v>
                </c:pt>
                <c:pt idx="32">
                  <c:v>Ward 6</c:v>
                </c:pt>
                <c:pt idx="33">
                  <c:v>Ward 59</c:v>
                </c:pt>
                <c:pt idx="34">
                  <c:v>Ward 58</c:v>
                </c:pt>
                <c:pt idx="35">
                  <c:v>Ward 57</c:v>
                </c:pt>
                <c:pt idx="36">
                  <c:v>Ward 56</c:v>
                </c:pt>
                <c:pt idx="37">
                  <c:v>Ward 55</c:v>
                </c:pt>
                <c:pt idx="38">
                  <c:v>Ward 54</c:v>
                </c:pt>
                <c:pt idx="39">
                  <c:v>Ward 53</c:v>
                </c:pt>
                <c:pt idx="40">
                  <c:v>Ward 51</c:v>
                </c:pt>
                <c:pt idx="41">
                  <c:v>Ward 50</c:v>
                </c:pt>
                <c:pt idx="42">
                  <c:v>Ward 5</c:v>
                </c:pt>
                <c:pt idx="43">
                  <c:v>Ward 49</c:v>
                </c:pt>
                <c:pt idx="44">
                  <c:v>Ward 48</c:v>
                </c:pt>
                <c:pt idx="45">
                  <c:v>Ward 46</c:v>
                </c:pt>
                <c:pt idx="46">
                  <c:v>Ward 45</c:v>
                </c:pt>
                <c:pt idx="47">
                  <c:v>Ward 44</c:v>
                </c:pt>
                <c:pt idx="48">
                  <c:v>Ward 43</c:v>
                </c:pt>
                <c:pt idx="49">
                  <c:v>Ward 4</c:v>
                </c:pt>
                <c:pt idx="50">
                  <c:v>Ward 35</c:v>
                </c:pt>
                <c:pt idx="51">
                  <c:v>Ward 32</c:v>
                </c:pt>
                <c:pt idx="52">
                  <c:v>Ward 30</c:v>
                </c:pt>
                <c:pt idx="53">
                  <c:v>Ward 3</c:v>
                </c:pt>
                <c:pt idx="54">
                  <c:v>Ward 29</c:v>
                </c:pt>
                <c:pt idx="55">
                  <c:v>Ward 27</c:v>
                </c:pt>
                <c:pt idx="56">
                  <c:v>Ward 26</c:v>
                </c:pt>
                <c:pt idx="57">
                  <c:v>Ward 25</c:v>
                </c:pt>
                <c:pt idx="58">
                  <c:v>Ward 24</c:v>
                </c:pt>
                <c:pt idx="59">
                  <c:v>Ward 23</c:v>
                </c:pt>
                <c:pt idx="60">
                  <c:v>Ward 22</c:v>
                </c:pt>
                <c:pt idx="61">
                  <c:v>Ward 21</c:v>
                </c:pt>
                <c:pt idx="62">
                  <c:v>Ward 2</c:v>
                </c:pt>
                <c:pt idx="63">
                  <c:v>Ward 19</c:v>
                </c:pt>
                <c:pt idx="64">
                  <c:v>Ward 18</c:v>
                </c:pt>
                <c:pt idx="65">
                  <c:v>Ward 17</c:v>
                </c:pt>
                <c:pt idx="66">
                  <c:v>Ward 16</c:v>
                </c:pt>
                <c:pt idx="67">
                  <c:v>Ward 15</c:v>
                </c:pt>
                <c:pt idx="68">
                  <c:v>Ward 14</c:v>
                </c:pt>
                <c:pt idx="69">
                  <c:v>Ward 12</c:v>
                </c:pt>
                <c:pt idx="70">
                  <c:v>Ward 116</c:v>
                </c:pt>
                <c:pt idx="71">
                  <c:v>Ward 115</c:v>
                </c:pt>
                <c:pt idx="72">
                  <c:v>Ward 113</c:v>
                </c:pt>
                <c:pt idx="73">
                  <c:v>Ward 112</c:v>
                </c:pt>
                <c:pt idx="74">
                  <c:v>Ward 111</c:v>
                </c:pt>
                <c:pt idx="75">
                  <c:v>Ward 110</c:v>
                </c:pt>
                <c:pt idx="76">
                  <c:v>Ward 11</c:v>
                </c:pt>
                <c:pt idx="77">
                  <c:v>Ward 109</c:v>
                </c:pt>
                <c:pt idx="78">
                  <c:v>Ward 108</c:v>
                </c:pt>
                <c:pt idx="79">
                  <c:v>Ward 107</c:v>
                </c:pt>
                <c:pt idx="80">
                  <c:v>Ward 105</c:v>
                </c:pt>
                <c:pt idx="81">
                  <c:v>Ward 104</c:v>
                </c:pt>
                <c:pt idx="82">
                  <c:v>Ward 103</c:v>
                </c:pt>
                <c:pt idx="83">
                  <c:v>Ward 102</c:v>
                </c:pt>
                <c:pt idx="84">
                  <c:v>Ward 100</c:v>
                </c:pt>
                <c:pt idx="85">
                  <c:v>Ward 10</c:v>
                </c:pt>
                <c:pt idx="86">
                  <c:v>Ward 1</c:v>
                </c:pt>
              </c:strCache>
            </c:strRef>
          </c:cat>
          <c:val>
            <c:numRef>
              <c:f>Sheet5!$B$2:$B$89</c:f>
              <c:numCache>
                <c:formatCode>General</c:formatCode>
                <c:ptCount val="87"/>
                <c:pt idx="0">
                  <c:v>1.2307692307692308</c:v>
                </c:pt>
                <c:pt idx="1">
                  <c:v>1.6666666666666667</c:v>
                </c:pt>
                <c:pt idx="2">
                  <c:v>2.9834782608695654</c:v>
                </c:pt>
                <c:pt idx="3">
                  <c:v>1.6428571428571428</c:v>
                </c:pt>
                <c:pt idx="4">
                  <c:v>3.088356164383562</c:v>
                </c:pt>
                <c:pt idx="5">
                  <c:v>0</c:v>
                </c:pt>
                <c:pt idx="6">
                  <c:v>3.0742168674698793</c:v>
                </c:pt>
                <c:pt idx="7">
                  <c:v>3.213373015873016</c:v>
                </c:pt>
                <c:pt idx="8">
                  <c:v>3.4419915848527398</c:v>
                </c:pt>
                <c:pt idx="9">
                  <c:v>3.5962988826815678</c:v>
                </c:pt>
                <c:pt idx="10">
                  <c:v>1.25</c:v>
                </c:pt>
                <c:pt idx="11">
                  <c:v>2.930452488687783</c:v>
                </c:pt>
                <c:pt idx="12">
                  <c:v>2.5</c:v>
                </c:pt>
                <c:pt idx="13">
                  <c:v>3.9589773783699971</c:v>
                </c:pt>
                <c:pt idx="14">
                  <c:v>0</c:v>
                </c:pt>
                <c:pt idx="15">
                  <c:v>0</c:v>
                </c:pt>
                <c:pt idx="16">
                  <c:v>3.6984018264840173</c:v>
                </c:pt>
                <c:pt idx="17">
                  <c:v>3.9332181818181811</c:v>
                </c:pt>
                <c:pt idx="18">
                  <c:v>2.9319999999999995</c:v>
                </c:pt>
                <c:pt idx="19">
                  <c:v>3.5373459715639846</c:v>
                </c:pt>
                <c:pt idx="20">
                  <c:v>3.819019230769233</c:v>
                </c:pt>
                <c:pt idx="21">
                  <c:v>3.2239999999999993</c:v>
                </c:pt>
                <c:pt idx="22">
                  <c:v>3.8964100185528765</c:v>
                </c:pt>
                <c:pt idx="23">
                  <c:v>2.3387500000000001</c:v>
                </c:pt>
                <c:pt idx="24">
                  <c:v>2.8046551724137929</c:v>
                </c:pt>
                <c:pt idx="25">
                  <c:v>1.1541176470588235</c:v>
                </c:pt>
                <c:pt idx="26">
                  <c:v>2.165</c:v>
                </c:pt>
                <c:pt idx="27">
                  <c:v>4.0763703703703662</c:v>
                </c:pt>
                <c:pt idx="28">
                  <c:v>3.2891304347826078</c:v>
                </c:pt>
                <c:pt idx="29">
                  <c:v>3.6000354609929066</c:v>
                </c:pt>
                <c:pt idx="30">
                  <c:v>4.2257729007633511</c:v>
                </c:pt>
                <c:pt idx="31">
                  <c:v>3.0621428571428564</c:v>
                </c:pt>
                <c:pt idx="32">
                  <c:v>3.9729411764705884</c:v>
                </c:pt>
                <c:pt idx="33">
                  <c:v>3.8366947852760722</c:v>
                </c:pt>
                <c:pt idx="34">
                  <c:v>3.9195890410958931</c:v>
                </c:pt>
                <c:pt idx="35">
                  <c:v>3.917400379506641</c:v>
                </c:pt>
                <c:pt idx="36">
                  <c:v>2.5358823529411763</c:v>
                </c:pt>
                <c:pt idx="37">
                  <c:v>3.5869121447028465</c:v>
                </c:pt>
                <c:pt idx="38">
                  <c:v>3.7726704757172893</c:v>
                </c:pt>
                <c:pt idx="39">
                  <c:v>3.4663307493540048</c:v>
                </c:pt>
                <c:pt idx="40">
                  <c:v>2.3624999999999998</c:v>
                </c:pt>
                <c:pt idx="41">
                  <c:v>5</c:v>
                </c:pt>
                <c:pt idx="42">
                  <c:v>3.3585987261146495</c:v>
                </c:pt>
                <c:pt idx="43">
                  <c:v>2.9712121212121212</c:v>
                </c:pt>
                <c:pt idx="44">
                  <c:v>1.9309999999999998</c:v>
                </c:pt>
                <c:pt idx="45">
                  <c:v>1.5811764705882354</c:v>
                </c:pt>
                <c:pt idx="46">
                  <c:v>4.71</c:v>
                </c:pt>
                <c:pt idx="47">
                  <c:v>4.79</c:v>
                </c:pt>
                <c:pt idx="48">
                  <c:v>1.99</c:v>
                </c:pt>
                <c:pt idx="49">
                  <c:v>3.4080417335473552</c:v>
                </c:pt>
                <c:pt idx="50">
                  <c:v>0</c:v>
                </c:pt>
                <c:pt idx="51">
                  <c:v>2.74</c:v>
                </c:pt>
                <c:pt idx="52">
                  <c:v>4.2583333333333337</c:v>
                </c:pt>
                <c:pt idx="53">
                  <c:v>2.7943867924528307</c:v>
                </c:pt>
                <c:pt idx="54">
                  <c:v>0</c:v>
                </c:pt>
                <c:pt idx="55">
                  <c:v>2.4548888888888891</c:v>
                </c:pt>
                <c:pt idx="56">
                  <c:v>1.9233823529411769</c:v>
                </c:pt>
                <c:pt idx="57">
                  <c:v>0</c:v>
                </c:pt>
                <c:pt idx="58">
                  <c:v>2.2000000000000002</c:v>
                </c:pt>
                <c:pt idx="59">
                  <c:v>3.6399453738477274</c:v>
                </c:pt>
                <c:pt idx="60">
                  <c:v>2.1388888888888888</c:v>
                </c:pt>
                <c:pt idx="61">
                  <c:v>3.6119047619047628</c:v>
                </c:pt>
                <c:pt idx="62">
                  <c:v>2.6466511627906995</c:v>
                </c:pt>
                <c:pt idx="63">
                  <c:v>1.3473076923076923</c:v>
                </c:pt>
                <c:pt idx="64">
                  <c:v>3.6666666666666665</c:v>
                </c:pt>
                <c:pt idx="65">
                  <c:v>0.5</c:v>
                </c:pt>
                <c:pt idx="66">
                  <c:v>1.3699999999999999</c:v>
                </c:pt>
                <c:pt idx="67">
                  <c:v>3.1568399168399193</c:v>
                </c:pt>
                <c:pt idx="68">
                  <c:v>2.470545454545455</c:v>
                </c:pt>
                <c:pt idx="69">
                  <c:v>2.13625</c:v>
                </c:pt>
                <c:pt idx="70">
                  <c:v>2.3427272727272732</c:v>
                </c:pt>
                <c:pt idx="71">
                  <c:v>3.8580268741159665</c:v>
                </c:pt>
                <c:pt idx="72">
                  <c:v>3.1363872491145246</c:v>
                </c:pt>
                <c:pt idx="73">
                  <c:v>3.6513074204947</c:v>
                </c:pt>
                <c:pt idx="74">
                  <c:v>1.6071428571428572</c:v>
                </c:pt>
                <c:pt idx="75">
                  <c:v>1.2424999999999999</c:v>
                </c:pt>
                <c:pt idx="76">
                  <c:v>3.8203750000000007</c:v>
                </c:pt>
                <c:pt idx="77">
                  <c:v>4.0863478260869552</c:v>
                </c:pt>
                <c:pt idx="78">
                  <c:v>0.82809523809523811</c:v>
                </c:pt>
                <c:pt idx="79">
                  <c:v>3.5159659090909114</c:v>
                </c:pt>
                <c:pt idx="80">
                  <c:v>3.0687447698744759</c:v>
                </c:pt>
                <c:pt idx="81">
                  <c:v>3.0153488372093027</c:v>
                </c:pt>
                <c:pt idx="82">
                  <c:v>3.757219512195122</c:v>
                </c:pt>
                <c:pt idx="83">
                  <c:v>3.7027536231884053</c:v>
                </c:pt>
                <c:pt idx="84">
                  <c:v>3.1335231316725998</c:v>
                </c:pt>
                <c:pt idx="85">
                  <c:v>2.2303676470588236</c:v>
                </c:pt>
                <c:pt idx="86">
                  <c:v>2.8917981651376157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96-4214-AC3A-FF3BB01FA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6533295"/>
        <c:axId val="666522735"/>
      </c:lineChart>
      <c:catAx>
        <c:axId val="666533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522735"/>
        <c:crosses val="autoZero"/>
        <c:auto val="1"/>
        <c:lblAlgn val="ctr"/>
        <c:lblOffset val="100"/>
        <c:noMultiLvlLbl val="0"/>
      </c:catAx>
      <c:valAx>
        <c:axId val="666522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ratings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533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6350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[deloite analysis.xlsx]Sheet4!PivotTable3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 dirty="0">
                <a:effectLst/>
              </a:rPr>
              <a:t>Room Type vs Customer Ratings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Sheet4!$A$2:$A$7</c:f>
              <c:strCache>
                <c:ptCount val="5"/>
                <c:pt idx="0">
                  <c:v>Entire home/apt</c:v>
                </c:pt>
                <c:pt idx="1">
                  <c:v>Hotel room</c:v>
                </c:pt>
                <c:pt idx="2">
                  <c:v>Private room</c:v>
                </c:pt>
                <c:pt idx="3">
                  <c:v>Shared room</c:v>
                </c:pt>
                <c:pt idx="4">
                  <c:v>(blank)</c:v>
                </c:pt>
              </c:strCache>
            </c:strRef>
          </c:cat>
          <c:val>
            <c:numRef>
              <c:f>Sheet4!$B$2:$B$7</c:f>
              <c:numCache>
                <c:formatCode>General</c:formatCode>
                <c:ptCount val="5"/>
                <c:pt idx="0">
                  <c:v>3.6576714853399608</c:v>
                </c:pt>
                <c:pt idx="1">
                  <c:v>3.1946069380929631</c:v>
                </c:pt>
                <c:pt idx="2">
                  <c:v>2.9183474808880234</c:v>
                </c:pt>
                <c:pt idx="3">
                  <c:v>2.9456324675324681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4C-4C30-9119-C8044F0B64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6504975"/>
        <c:axId val="666491055"/>
      </c:barChart>
      <c:catAx>
        <c:axId val="666504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491055"/>
        <c:crosses val="autoZero"/>
        <c:auto val="1"/>
        <c:lblAlgn val="ctr"/>
        <c:lblOffset val="100"/>
        <c:noMultiLvlLbl val="0"/>
      </c:catAx>
      <c:valAx>
        <c:axId val="666491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Ratings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504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15000"/>
          <a:lumOff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657A2-9F7C-4D3E-B4CD-FB4C558902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C236D-16D2-4954-BAE2-D93A9828C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C236D-16D2-4954-BAE2-D93A9828C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40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C236D-16D2-4954-BAE2-D93A9828C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75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C236D-16D2-4954-BAE2-D93A9828C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04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59E6-B652-4D17-E898-D77C0767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47980-099C-B45F-D2F8-72DAEF03F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6E8F9-1853-A22E-3271-26F52BC83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02C60-BA1F-B7EA-6369-DC2E1B495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C236D-16D2-4954-BAE2-D93A9828C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16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NVARCHAR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BULK INSERT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TRY_CAST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INDEXES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ROW_NUMBER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Analytical view?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C236D-16D2-4954-BAE2-D93A9828CD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84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C236D-16D2-4954-BAE2-D93A9828CD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24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4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1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7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2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4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1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5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1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3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0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5808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83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3947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64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2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0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76AC2-5525-48E8-B23D-B7C365B9D7D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BF51A84-0C75-4C61-B528-134E4E877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9439EF-BABB-5F7B-EE0A-B73DFE8A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899" y="1440834"/>
            <a:ext cx="6978288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100" dirty="0">
                <a:solidFill>
                  <a:schemeClr val="tx2">
                    <a:lumMod val="75000"/>
                  </a:schemeClr>
                </a:solidFill>
              </a:rPr>
              <a:t>Cape Town Airbnb Ratings &amp; Weather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4BE3-80DF-D633-705B-A1F42556E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2909" y="1743935"/>
            <a:ext cx="3084569" cy="31998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Correlating weather conditions with guest ratings across Cape Town Airbnb listings.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CFE121-4D99-7367-0495-F7B5E8CA20C9}"/>
              </a:ext>
            </a:extLst>
          </p:cNvPr>
          <p:cNvSpPr txBox="1"/>
          <p:nvPr/>
        </p:nvSpPr>
        <p:spPr>
          <a:xfrm>
            <a:off x="128608" y="65340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Phila Dyantyi | Data Engineer</a:t>
            </a:r>
          </a:p>
        </p:txBody>
      </p:sp>
    </p:spTree>
    <p:extLst>
      <p:ext uri="{BB962C8B-B14F-4D97-AF65-F5344CB8AC3E}">
        <p14:creationId xmlns:p14="http://schemas.microsoft.com/office/powerpoint/2010/main" val="127298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7E173-D127-7A1D-1C66-D0640929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92" y="624110"/>
            <a:ext cx="8911687" cy="1280890"/>
          </a:xfrm>
        </p:spPr>
        <p:txBody>
          <a:bodyPr/>
          <a:lstStyle/>
          <a:p>
            <a:r>
              <a:rPr lang="en-US" b="1" dirty="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94B18-B61C-029D-2908-D0A9163EB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7934" y="2033489"/>
            <a:ext cx="2835584" cy="29195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analyze Cape Town Airbnb listings (Dec 2023) and determine if a correlation exists between ratings and weather conditions.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4188F-F66C-C5AC-0DC7-3FC2F9F56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8339" y="2033489"/>
            <a:ext cx="3562597" cy="32358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Deliverables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(.</a:t>
            </a:r>
            <a:r>
              <a:rPr lang="en-US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</a:p>
          <a:p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DML scripts (.</a:t>
            </a:r>
            <a:r>
              <a:rPr lang="en-US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</a:p>
          <a:p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diagram (.</a:t>
            </a:r>
            <a:r>
              <a:rPr lang="en-US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drawio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slide deck (.pptx)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FAC6830-2055-0F0C-1D77-EA836A7AEB57}"/>
              </a:ext>
            </a:extLst>
          </p:cNvPr>
          <p:cNvSpPr txBox="1">
            <a:spLocks/>
          </p:cNvSpPr>
          <p:nvPr/>
        </p:nvSpPr>
        <p:spPr>
          <a:xfrm>
            <a:off x="4743718" y="2033489"/>
            <a:ext cx="3562597" cy="3235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/>
              <a:t>Goal</a:t>
            </a:r>
          </a:p>
          <a:p>
            <a:pPr marL="0" indent="0">
              <a:buFont typeface="Wingdings 3" charset="2"/>
              <a:buNone/>
            </a:pPr>
            <a:endParaRPr lang="en-US" dirty="0"/>
          </a:p>
          <a:p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Python ingestion script, SQL data model, and a visual dashboard with actionable insights.</a:t>
            </a:r>
            <a:endParaRPr lang="en-US" dirty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94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00EA-0F70-E0C5-49F0-480D7BB6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045" y="667147"/>
            <a:ext cx="4638724" cy="567293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 Architecture</a:t>
            </a:r>
            <a:endParaRPr lang="en-US" b="1" dirty="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D816CD93-CCDE-3B3B-FDA2-7239F8629013}"/>
              </a:ext>
            </a:extLst>
          </p:cNvPr>
          <p:cNvSpPr/>
          <p:nvPr/>
        </p:nvSpPr>
        <p:spPr>
          <a:xfrm>
            <a:off x="2715768" y="2258568"/>
            <a:ext cx="1298448" cy="3218688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590B626F-BCB8-7305-F480-F874BEA6FF58}"/>
              </a:ext>
            </a:extLst>
          </p:cNvPr>
          <p:cNvSpPr/>
          <p:nvPr/>
        </p:nvSpPr>
        <p:spPr>
          <a:xfrm>
            <a:off x="3090672" y="2331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1E604418-9343-272F-E859-406FC1567C47}"/>
              </a:ext>
            </a:extLst>
          </p:cNvPr>
          <p:cNvSpPr/>
          <p:nvPr/>
        </p:nvSpPr>
        <p:spPr>
          <a:xfrm>
            <a:off x="309067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044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368BC15C-CC1F-48C7-C413-B509F0E24615}"/>
              </a:ext>
            </a:extLst>
          </p:cNvPr>
          <p:cNvSpPr/>
          <p:nvPr/>
        </p:nvSpPr>
        <p:spPr>
          <a:xfrm>
            <a:off x="2761488" y="299008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D1DA9839-45DB-DEA7-B638-16264C7B183A}"/>
              </a:ext>
            </a:extLst>
          </p:cNvPr>
          <p:cNvSpPr/>
          <p:nvPr/>
        </p:nvSpPr>
        <p:spPr>
          <a:xfrm>
            <a:off x="3044952" y="3538728"/>
            <a:ext cx="640080" cy="2743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DEBA1862-4E50-9BC5-7712-0B2F503F3B78}"/>
              </a:ext>
            </a:extLst>
          </p:cNvPr>
          <p:cNvSpPr/>
          <p:nvPr/>
        </p:nvSpPr>
        <p:spPr>
          <a:xfrm>
            <a:off x="2761488" y="3648456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Open-Meteo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InsideAirbnb CSV</a:t>
            </a:r>
            <a:endParaRPr lang="en-US" sz="10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5A8DFF3A-EB38-A20A-999D-9E4804CC86CF}"/>
              </a:ext>
            </a:extLst>
          </p:cNvPr>
          <p:cNvSpPr/>
          <p:nvPr/>
        </p:nvSpPr>
        <p:spPr>
          <a:xfrm>
            <a:off x="4105656" y="353872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BE795E94-9C0F-B537-4E80-7E8DBA1D3355}"/>
              </a:ext>
            </a:extLst>
          </p:cNvPr>
          <p:cNvSpPr/>
          <p:nvPr/>
        </p:nvSpPr>
        <p:spPr>
          <a:xfrm>
            <a:off x="4197096" y="2258568"/>
            <a:ext cx="1298448" cy="3218688"/>
          </a:xfrm>
          <a:prstGeom prst="rect">
            <a:avLst/>
          </a:prstGeom>
          <a:solidFill>
            <a:srgbClr val="0F20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FF69BDF8-C970-98F2-9F54-64F52A87849D}"/>
              </a:ext>
            </a:extLst>
          </p:cNvPr>
          <p:cNvSpPr/>
          <p:nvPr/>
        </p:nvSpPr>
        <p:spPr>
          <a:xfrm>
            <a:off x="4572000" y="2331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358D847A-E532-73B3-923C-1714E2E3AFB0}"/>
              </a:ext>
            </a:extLst>
          </p:cNvPr>
          <p:cNvSpPr/>
          <p:nvPr/>
        </p:nvSpPr>
        <p:spPr>
          <a:xfrm>
            <a:off x="45720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044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C636C03A-79EC-C8A5-3B08-EB26549E2C2D}"/>
              </a:ext>
            </a:extLst>
          </p:cNvPr>
          <p:cNvSpPr/>
          <p:nvPr/>
        </p:nvSpPr>
        <p:spPr>
          <a:xfrm>
            <a:off x="4242816" y="299008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Ingestion</a:t>
            </a:r>
            <a:endParaRPr lang="en-US" sz="1100" dirty="0"/>
          </a:p>
        </p:txBody>
      </p:sp>
      <p:sp>
        <p:nvSpPr>
          <p:cNvPr id="16" name="Shape 21">
            <a:extLst>
              <a:ext uri="{FF2B5EF4-FFF2-40B4-BE49-F238E27FC236}">
                <a16:creationId xmlns:a16="http://schemas.microsoft.com/office/drawing/2014/main" id="{BB4EB2EF-C034-2ED6-DEB2-7A205CC77953}"/>
              </a:ext>
            </a:extLst>
          </p:cNvPr>
          <p:cNvSpPr/>
          <p:nvPr/>
        </p:nvSpPr>
        <p:spPr>
          <a:xfrm>
            <a:off x="4526280" y="3538728"/>
            <a:ext cx="640080" cy="27432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6BE7A8A1-2B94-9ADE-A4A5-B40A32337EF8}"/>
              </a:ext>
            </a:extLst>
          </p:cNvPr>
          <p:cNvSpPr/>
          <p:nvPr/>
        </p:nvSpPr>
        <p:spPr>
          <a:xfrm>
            <a:off x="4242816" y="3648456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Python script</a:t>
            </a:r>
            <a:endParaRPr lang="en-US" sz="1000" dirty="0"/>
          </a:p>
        </p:txBody>
      </p:sp>
      <p:sp>
        <p:nvSpPr>
          <p:cNvPr id="20" name="Shape 25">
            <a:extLst>
              <a:ext uri="{FF2B5EF4-FFF2-40B4-BE49-F238E27FC236}">
                <a16:creationId xmlns:a16="http://schemas.microsoft.com/office/drawing/2014/main" id="{71ED78CB-1B96-A471-02C7-0F417E3679E4}"/>
              </a:ext>
            </a:extLst>
          </p:cNvPr>
          <p:cNvSpPr/>
          <p:nvPr/>
        </p:nvSpPr>
        <p:spPr>
          <a:xfrm>
            <a:off x="5678424" y="2258568"/>
            <a:ext cx="1298448" cy="3218688"/>
          </a:xfrm>
          <a:prstGeom prst="rect">
            <a:avLst/>
          </a:prstGeom>
          <a:solidFill>
            <a:srgbClr val="1A56A0"/>
          </a:solidFill>
          <a:ln w="1270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14415737-0833-735F-B234-CEF1B0DA905B}"/>
              </a:ext>
            </a:extLst>
          </p:cNvPr>
          <p:cNvSpPr/>
          <p:nvPr/>
        </p:nvSpPr>
        <p:spPr>
          <a:xfrm>
            <a:off x="6053328" y="2331720"/>
            <a:ext cx="548640" cy="5486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6DEBA357-DB89-589C-BE61-7648E0E9D73D}"/>
              </a:ext>
            </a:extLst>
          </p:cNvPr>
          <p:cNvSpPr/>
          <p:nvPr/>
        </p:nvSpPr>
        <p:spPr>
          <a:xfrm>
            <a:off x="605332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044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1902BA97-7CE8-95BF-A0E6-873535FD2B44}"/>
              </a:ext>
            </a:extLst>
          </p:cNvPr>
          <p:cNvSpPr/>
          <p:nvPr/>
        </p:nvSpPr>
        <p:spPr>
          <a:xfrm>
            <a:off x="5724144" y="299008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</a:rPr>
              <a:t>Staging / Bronze</a:t>
            </a:r>
            <a:endParaRPr lang="en-US" sz="1100" dirty="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5880C771-3572-C245-7323-BC7DD3DA11FC}"/>
              </a:ext>
            </a:extLst>
          </p:cNvPr>
          <p:cNvSpPr/>
          <p:nvPr/>
        </p:nvSpPr>
        <p:spPr>
          <a:xfrm>
            <a:off x="6007608" y="3538728"/>
            <a:ext cx="640080" cy="27432"/>
          </a:xfrm>
          <a:prstGeom prst="rect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CCFB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4FEC005D-54C1-A8B3-D78F-B6C3747EA883}"/>
              </a:ext>
            </a:extLst>
          </p:cNvPr>
          <p:cNvSpPr/>
          <p:nvPr/>
        </p:nvSpPr>
        <p:spPr>
          <a:xfrm>
            <a:off x="5724144" y="3648456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SQL Server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NVARCHAR tables</a:t>
            </a:r>
            <a:endParaRPr lang="en-US" sz="1000" dirty="0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62D131F1-7794-3B4D-C1ED-792B7FF44008}"/>
              </a:ext>
            </a:extLst>
          </p:cNvPr>
          <p:cNvSpPr/>
          <p:nvPr/>
        </p:nvSpPr>
        <p:spPr>
          <a:xfrm>
            <a:off x="7068312" y="353872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Shape 33">
            <a:extLst>
              <a:ext uri="{FF2B5EF4-FFF2-40B4-BE49-F238E27FC236}">
                <a16:creationId xmlns:a16="http://schemas.microsoft.com/office/drawing/2014/main" id="{98D8C218-2FC1-2197-D45D-75FBE3FF7221}"/>
              </a:ext>
            </a:extLst>
          </p:cNvPr>
          <p:cNvSpPr/>
          <p:nvPr/>
        </p:nvSpPr>
        <p:spPr>
          <a:xfrm>
            <a:off x="7159752" y="2258568"/>
            <a:ext cx="1298448" cy="3218688"/>
          </a:xfrm>
          <a:prstGeom prst="rect">
            <a:avLst/>
          </a:prstGeom>
          <a:solidFill>
            <a:srgbClr val="1A56A0"/>
          </a:solidFill>
          <a:ln w="12700">
            <a:solidFill>
              <a:srgbClr val="CCFB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34">
            <a:extLst>
              <a:ext uri="{FF2B5EF4-FFF2-40B4-BE49-F238E27FC236}">
                <a16:creationId xmlns:a16="http://schemas.microsoft.com/office/drawing/2014/main" id="{6C256B60-C543-47B7-C3E5-C846BB3EC5E8}"/>
              </a:ext>
            </a:extLst>
          </p:cNvPr>
          <p:cNvSpPr/>
          <p:nvPr/>
        </p:nvSpPr>
        <p:spPr>
          <a:xfrm>
            <a:off x="7534656" y="2331720"/>
            <a:ext cx="548640" cy="54864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9AD48255-3644-9A4D-4A37-595D3EE8DA05}"/>
              </a:ext>
            </a:extLst>
          </p:cNvPr>
          <p:cNvSpPr/>
          <p:nvPr/>
        </p:nvSpPr>
        <p:spPr>
          <a:xfrm>
            <a:off x="7534656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044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E01CBB78-075C-3FF2-EC28-5A7296F7AF22}"/>
              </a:ext>
            </a:extLst>
          </p:cNvPr>
          <p:cNvSpPr/>
          <p:nvPr/>
        </p:nvSpPr>
        <p:spPr>
          <a:xfrm>
            <a:off x="7205472" y="299008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</a:rPr>
              <a:t>Transform / Silver</a:t>
            </a:r>
            <a:endParaRPr lang="en-US" sz="1100" dirty="0"/>
          </a:p>
        </p:txBody>
      </p:sp>
      <p:sp>
        <p:nvSpPr>
          <p:cNvPr id="32" name="Shape 37">
            <a:extLst>
              <a:ext uri="{FF2B5EF4-FFF2-40B4-BE49-F238E27FC236}">
                <a16:creationId xmlns:a16="http://schemas.microsoft.com/office/drawing/2014/main" id="{52DE6157-BCBD-CE26-0AAE-0112656062A6}"/>
              </a:ext>
            </a:extLst>
          </p:cNvPr>
          <p:cNvSpPr/>
          <p:nvPr/>
        </p:nvSpPr>
        <p:spPr>
          <a:xfrm>
            <a:off x="7488936" y="3538728"/>
            <a:ext cx="640080" cy="27432"/>
          </a:xfrm>
          <a:prstGeom prst="rect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CCFB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8">
            <a:extLst>
              <a:ext uri="{FF2B5EF4-FFF2-40B4-BE49-F238E27FC236}">
                <a16:creationId xmlns:a16="http://schemas.microsoft.com/office/drawing/2014/main" id="{923F0D40-478C-07F5-3F48-425207309AA2}"/>
              </a:ext>
            </a:extLst>
          </p:cNvPr>
          <p:cNvSpPr/>
          <p:nvPr/>
        </p:nvSpPr>
        <p:spPr>
          <a:xfrm>
            <a:off x="7205472" y="3648456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Views + TRY_CAST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Type validation</a:t>
            </a:r>
            <a:endParaRPr lang="en-US" sz="1000" dirty="0"/>
          </a:p>
        </p:txBody>
      </p:sp>
      <p:sp>
        <p:nvSpPr>
          <p:cNvPr id="35" name="Text 40">
            <a:extLst>
              <a:ext uri="{FF2B5EF4-FFF2-40B4-BE49-F238E27FC236}">
                <a16:creationId xmlns:a16="http://schemas.microsoft.com/office/drawing/2014/main" id="{8A96AAC2-1F9E-8D00-73EC-D908228C6F77}"/>
              </a:ext>
            </a:extLst>
          </p:cNvPr>
          <p:cNvSpPr/>
          <p:nvPr/>
        </p:nvSpPr>
        <p:spPr>
          <a:xfrm>
            <a:off x="8549640" y="353872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41">
            <a:extLst>
              <a:ext uri="{FF2B5EF4-FFF2-40B4-BE49-F238E27FC236}">
                <a16:creationId xmlns:a16="http://schemas.microsoft.com/office/drawing/2014/main" id="{BB517D7A-2132-0EEA-AF9B-3DEDDBED535D}"/>
              </a:ext>
            </a:extLst>
          </p:cNvPr>
          <p:cNvSpPr/>
          <p:nvPr/>
        </p:nvSpPr>
        <p:spPr>
          <a:xfrm>
            <a:off x="8641080" y="2258568"/>
            <a:ext cx="1298448" cy="321868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42">
            <a:extLst>
              <a:ext uri="{FF2B5EF4-FFF2-40B4-BE49-F238E27FC236}">
                <a16:creationId xmlns:a16="http://schemas.microsoft.com/office/drawing/2014/main" id="{399E94C3-7EF4-5732-A586-06F88F889353}"/>
              </a:ext>
            </a:extLst>
          </p:cNvPr>
          <p:cNvSpPr/>
          <p:nvPr/>
        </p:nvSpPr>
        <p:spPr>
          <a:xfrm>
            <a:off x="9015984" y="2331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43">
            <a:extLst>
              <a:ext uri="{FF2B5EF4-FFF2-40B4-BE49-F238E27FC236}">
                <a16:creationId xmlns:a16="http://schemas.microsoft.com/office/drawing/2014/main" id="{1164E939-C300-9AE3-FEC2-D9E00FC9CE70}"/>
              </a:ext>
            </a:extLst>
          </p:cNvPr>
          <p:cNvSpPr/>
          <p:nvPr/>
        </p:nvSpPr>
        <p:spPr>
          <a:xfrm>
            <a:off x="9015984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044"/>
                </a:solidFill>
              </a:rPr>
              <a:t>5</a:t>
            </a:r>
            <a:endParaRPr lang="en-US" sz="1600" dirty="0"/>
          </a:p>
        </p:txBody>
      </p:sp>
      <p:sp>
        <p:nvSpPr>
          <p:cNvPr id="39" name="Text 44">
            <a:extLst>
              <a:ext uri="{FF2B5EF4-FFF2-40B4-BE49-F238E27FC236}">
                <a16:creationId xmlns:a16="http://schemas.microsoft.com/office/drawing/2014/main" id="{2CB70B00-EAD2-5B79-B709-23E955B7237B}"/>
              </a:ext>
            </a:extLst>
          </p:cNvPr>
          <p:cNvSpPr/>
          <p:nvPr/>
        </p:nvSpPr>
        <p:spPr>
          <a:xfrm>
            <a:off x="8686800" y="299008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DWH / Gold</a:t>
            </a:r>
            <a:endParaRPr lang="en-US" sz="1100" dirty="0"/>
          </a:p>
        </p:txBody>
      </p:sp>
      <p:sp>
        <p:nvSpPr>
          <p:cNvPr id="40" name="Shape 45">
            <a:extLst>
              <a:ext uri="{FF2B5EF4-FFF2-40B4-BE49-F238E27FC236}">
                <a16:creationId xmlns:a16="http://schemas.microsoft.com/office/drawing/2014/main" id="{B7E990B9-9E0C-6470-23ED-7119773DBDAF}"/>
              </a:ext>
            </a:extLst>
          </p:cNvPr>
          <p:cNvSpPr/>
          <p:nvPr/>
        </p:nvSpPr>
        <p:spPr>
          <a:xfrm>
            <a:off x="8970264" y="3538728"/>
            <a:ext cx="64008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46">
            <a:extLst>
              <a:ext uri="{FF2B5EF4-FFF2-40B4-BE49-F238E27FC236}">
                <a16:creationId xmlns:a16="http://schemas.microsoft.com/office/drawing/2014/main" id="{C79CBF7B-1165-F51C-1833-84693BB43843}"/>
              </a:ext>
            </a:extLst>
          </p:cNvPr>
          <p:cNvSpPr/>
          <p:nvPr/>
        </p:nvSpPr>
        <p:spPr>
          <a:xfrm>
            <a:off x="8686800" y="3648456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Dimensional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Facts &amp; Dims</a:t>
            </a:r>
            <a:endParaRPr lang="en-US" sz="1000" dirty="0"/>
          </a:p>
        </p:txBody>
      </p:sp>
      <p:sp>
        <p:nvSpPr>
          <p:cNvPr id="43" name="Text 48">
            <a:extLst>
              <a:ext uri="{FF2B5EF4-FFF2-40B4-BE49-F238E27FC236}">
                <a16:creationId xmlns:a16="http://schemas.microsoft.com/office/drawing/2014/main" id="{FBC36AE1-362C-848B-3E1E-CB0B703BA796}"/>
              </a:ext>
            </a:extLst>
          </p:cNvPr>
          <p:cNvSpPr/>
          <p:nvPr/>
        </p:nvSpPr>
        <p:spPr>
          <a:xfrm>
            <a:off x="10030968" y="3538728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4" name="Shape 49">
            <a:extLst>
              <a:ext uri="{FF2B5EF4-FFF2-40B4-BE49-F238E27FC236}">
                <a16:creationId xmlns:a16="http://schemas.microsoft.com/office/drawing/2014/main" id="{7F05CDEB-DF10-8514-B5CF-240D2ACCF79A}"/>
              </a:ext>
            </a:extLst>
          </p:cNvPr>
          <p:cNvSpPr/>
          <p:nvPr/>
        </p:nvSpPr>
        <p:spPr>
          <a:xfrm>
            <a:off x="10122408" y="2258568"/>
            <a:ext cx="1298448" cy="321868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50">
            <a:extLst>
              <a:ext uri="{FF2B5EF4-FFF2-40B4-BE49-F238E27FC236}">
                <a16:creationId xmlns:a16="http://schemas.microsoft.com/office/drawing/2014/main" id="{792C5016-3F41-79FD-506B-575612CC37EE}"/>
              </a:ext>
            </a:extLst>
          </p:cNvPr>
          <p:cNvSpPr/>
          <p:nvPr/>
        </p:nvSpPr>
        <p:spPr>
          <a:xfrm>
            <a:off x="10497312" y="2331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51">
            <a:extLst>
              <a:ext uri="{FF2B5EF4-FFF2-40B4-BE49-F238E27FC236}">
                <a16:creationId xmlns:a16="http://schemas.microsoft.com/office/drawing/2014/main" id="{A3065992-66FD-9A7D-B656-7CB22DD3EE7D}"/>
              </a:ext>
            </a:extLst>
          </p:cNvPr>
          <p:cNvSpPr/>
          <p:nvPr/>
        </p:nvSpPr>
        <p:spPr>
          <a:xfrm>
            <a:off x="1049731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044"/>
                </a:solidFill>
              </a:rPr>
              <a:t>6</a:t>
            </a:r>
            <a:endParaRPr lang="en-US" sz="1600" dirty="0"/>
          </a:p>
        </p:txBody>
      </p:sp>
      <p:sp>
        <p:nvSpPr>
          <p:cNvPr id="47" name="Text 52">
            <a:extLst>
              <a:ext uri="{FF2B5EF4-FFF2-40B4-BE49-F238E27FC236}">
                <a16:creationId xmlns:a16="http://schemas.microsoft.com/office/drawing/2014/main" id="{EAB214FF-72C7-90EB-E44D-1D8E670E372D}"/>
              </a:ext>
            </a:extLst>
          </p:cNvPr>
          <p:cNvSpPr/>
          <p:nvPr/>
        </p:nvSpPr>
        <p:spPr>
          <a:xfrm>
            <a:off x="10168128" y="299008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Dashboard</a:t>
            </a:r>
            <a:endParaRPr lang="en-US" sz="1100" dirty="0"/>
          </a:p>
        </p:txBody>
      </p:sp>
      <p:sp>
        <p:nvSpPr>
          <p:cNvPr id="48" name="Shape 53">
            <a:extLst>
              <a:ext uri="{FF2B5EF4-FFF2-40B4-BE49-F238E27FC236}">
                <a16:creationId xmlns:a16="http://schemas.microsoft.com/office/drawing/2014/main" id="{829529BE-D0B8-2006-9C61-BBC8D6D65BA4}"/>
              </a:ext>
            </a:extLst>
          </p:cNvPr>
          <p:cNvSpPr/>
          <p:nvPr/>
        </p:nvSpPr>
        <p:spPr>
          <a:xfrm>
            <a:off x="10451592" y="3538728"/>
            <a:ext cx="64008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54">
            <a:extLst>
              <a:ext uri="{FF2B5EF4-FFF2-40B4-BE49-F238E27FC236}">
                <a16:creationId xmlns:a16="http://schemas.microsoft.com/office/drawing/2014/main" id="{1D6FD18B-61B7-B9D6-4837-18B9896E73D7}"/>
              </a:ext>
            </a:extLst>
          </p:cNvPr>
          <p:cNvSpPr/>
          <p:nvPr/>
        </p:nvSpPr>
        <p:spPr>
          <a:xfrm>
            <a:off x="10168128" y="3648456"/>
            <a:ext cx="12070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Visualisations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B8D8"/>
                </a:solidFill>
              </a:rPr>
              <a:t>&amp; Insights</a:t>
            </a:r>
            <a:endParaRPr lang="en-US" sz="1000" dirty="0"/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A5CFE3E7-EFBD-B677-F01E-C10F684837A3}"/>
              </a:ext>
            </a:extLst>
          </p:cNvPr>
          <p:cNvSpPr/>
          <p:nvPr/>
        </p:nvSpPr>
        <p:spPr>
          <a:xfrm>
            <a:off x="2715768" y="5550408"/>
            <a:ext cx="2779776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59B26E14-BEEF-5738-B73A-97077EA22A7B}"/>
              </a:ext>
            </a:extLst>
          </p:cNvPr>
          <p:cNvSpPr/>
          <p:nvPr/>
        </p:nvSpPr>
        <p:spPr>
          <a:xfrm>
            <a:off x="2715768" y="5550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BRONZE</a:t>
            </a:r>
            <a:endParaRPr lang="en-US" sz="900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E9F3AA70-A1D8-4D27-2BB9-744A1BA6BBC8}"/>
              </a:ext>
            </a:extLst>
          </p:cNvPr>
          <p:cNvSpPr/>
          <p:nvPr/>
        </p:nvSpPr>
        <p:spPr>
          <a:xfrm>
            <a:off x="5669280" y="5550408"/>
            <a:ext cx="278892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440DBD0F-357B-5E01-CBBE-983BDBAC619D}"/>
              </a:ext>
            </a:extLst>
          </p:cNvPr>
          <p:cNvSpPr/>
          <p:nvPr/>
        </p:nvSpPr>
        <p:spPr>
          <a:xfrm>
            <a:off x="5641848" y="5550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SILVER</a:t>
            </a:r>
            <a:endParaRPr lang="en-US" sz="900" dirty="0"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13E7BA22-16D5-527C-6D40-E7B04E0B2CDC}"/>
              </a:ext>
            </a:extLst>
          </p:cNvPr>
          <p:cNvSpPr/>
          <p:nvPr/>
        </p:nvSpPr>
        <p:spPr>
          <a:xfrm>
            <a:off x="8641080" y="5550408"/>
            <a:ext cx="2779776" cy="29260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00B050"/>
              </a:solidFill>
              <a:highlight>
                <a:srgbClr val="FF0000"/>
              </a:highlight>
            </a:endParaRPr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DEDDCC1E-EC97-9CC9-CE72-F63539EB1C36}"/>
              </a:ext>
            </a:extLst>
          </p:cNvPr>
          <p:cNvSpPr/>
          <p:nvPr/>
        </p:nvSpPr>
        <p:spPr>
          <a:xfrm>
            <a:off x="8567928" y="5550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GOLD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993ABCE0-33EF-24E2-9EFA-2B5C157E7211}"/>
              </a:ext>
            </a:extLst>
          </p:cNvPr>
          <p:cNvSpPr txBox="1">
            <a:spLocks/>
          </p:cNvSpPr>
          <p:nvPr/>
        </p:nvSpPr>
        <p:spPr>
          <a:xfrm>
            <a:off x="8119872" y="716863"/>
            <a:ext cx="4638724" cy="5672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End-to-end Pipeline</a:t>
            </a:r>
          </a:p>
        </p:txBody>
      </p:sp>
    </p:spTree>
    <p:extLst>
      <p:ext uri="{BB962C8B-B14F-4D97-AF65-F5344CB8AC3E}">
        <p14:creationId xmlns:p14="http://schemas.microsoft.com/office/powerpoint/2010/main" val="130256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F6BAF-A978-2702-11BF-8D095F64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b="1" dirty="0"/>
              <a:t>Weather Data - Open </a:t>
            </a:r>
            <a:r>
              <a:rPr lang="en-US" sz="3300" b="1" dirty="0" err="1"/>
              <a:t>Meteo</a:t>
            </a:r>
            <a:r>
              <a:rPr lang="en-US" sz="3300" b="1" dirty="0"/>
              <a:t> API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7414E-BD80-1EBB-C546-FF8F688BD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buSzPct val="100000"/>
            </a:pPr>
            <a:r>
              <a:rPr lang="en-US" dirty="0"/>
              <a:t>Free historical data - no subscription</a:t>
            </a:r>
          </a:p>
          <a:p>
            <a:pPr>
              <a:buSzPct val="100000"/>
            </a:pPr>
            <a:r>
              <a:rPr lang="en-US" dirty="0"/>
              <a:t>No banking card details required</a:t>
            </a:r>
          </a:p>
          <a:p>
            <a:pPr>
              <a:buSzPct val="100000"/>
            </a:pPr>
            <a:r>
              <a:rPr lang="en-US" dirty="0"/>
              <a:t>No API key authentication needed</a:t>
            </a:r>
          </a:p>
          <a:p>
            <a:pPr>
              <a:buSzPct val="100000"/>
            </a:pPr>
            <a:r>
              <a:rPr lang="en-US" dirty="0"/>
              <a:t>Structured JSON responses</a:t>
            </a:r>
          </a:p>
          <a:p>
            <a:pPr>
              <a:buSzPct val="100000"/>
            </a:pPr>
            <a:r>
              <a:rPr lang="en-US" dirty="0"/>
              <a:t>Daily aggregation - ideal for this analysis</a:t>
            </a:r>
          </a:p>
          <a:p>
            <a:pPr>
              <a:buSzPct val="100000"/>
            </a:pPr>
            <a:r>
              <a:rPr lang="en-US" dirty="0"/>
              <a:t>The Open-</a:t>
            </a:r>
            <a:r>
              <a:rPr lang="en-US" dirty="0" err="1"/>
              <a:t>Meteo</a:t>
            </a:r>
            <a:r>
              <a:rPr lang="en-US" dirty="0"/>
              <a:t> UI doesn't have </a:t>
            </a:r>
            <a:r>
              <a:rPr lang="en-US" b="1" dirty="0"/>
              <a:t>Africa/Johannesburg </a:t>
            </a:r>
            <a:r>
              <a:rPr lang="en-US" dirty="0"/>
              <a:t>in its dropdown, so I used </a:t>
            </a:r>
            <a:r>
              <a:rPr lang="en-US" b="1" dirty="0"/>
              <a:t>Africa/Cairo</a:t>
            </a:r>
            <a:r>
              <a:rPr lang="en-US" dirty="0"/>
              <a:t> instead. Both are UTC+2 with no daylight saving time, so the timestamps are identical for South Africa.</a:t>
            </a:r>
          </a:p>
          <a:p>
            <a:pPr marL="0" indent="0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0E93A-CD39-8AE6-0CCA-E328CFB24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029" y="4337305"/>
            <a:ext cx="6755665" cy="2348205"/>
          </a:xfrm>
          <a:prstGeom prst="rect">
            <a:avLst/>
          </a:prstGeom>
        </p:spPr>
      </p:pic>
      <p:sp>
        <p:nvSpPr>
          <p:cNvPr id="48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01EBA77-1451-98FF-0C6E-837D600BB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029" y="2237901"/>
            <a:ext cx="6755665" cy="207857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E5F5B51-C95F-17BD-B014-2B97D1C64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029" y="-14758"/>
            <a:ext cx="6782747" cy="223868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FD04380-3ADF-5687-58A8-01F2647BCCB7}"/>
              </a:ext>
            </a:extLst>
          </p:cNvPr>
          <p:cNvSpPr txBox="1"/>
          <p:nvPr/>
        </p:nvSpPr>
        <p:spPr>
          <a:xfrm>
            <a:off x="117424" y="25324"/>
            <a:ext cx="2669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00"/>
                </a:highlight>
              </a:rPr>
              <a:t>DATA ACQUISITION</a:t>
            </a:r>
          </a:p>
        </p:txBody>
      </p:sp>
    </p:spTree>
    <p:extLst>
      <p:ext uri="{BB962C8B-B14F-4D97-AF65-F5344CB8AC3E}">
        <p14:creationId xmlns:p14="http://schemas.microsoft.com/office/powerpoint/2010/main" val="221506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240C9-B02B-E692-22CC-A1DDB0A1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5D1F2FD8-11FD-4495-9EFA-1D11D791D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4" name="Freeform 11">
              <a:extLst>
                <a:ext uri="{FF2B5EF4-FFF2-40B4-BE49-F238E27FC236}">
                  <a16:creationId xmlns:a16="http://schemas.microsoft.com/office/drawing/2014/main" id="{F07E62E0-C435-4556-B265-2AC622C08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2">
              <a:extLst>
                <a:ext uri="{FF2B5EF4-FFF2-40B4-BE49-F238E27FC236}">
                  <a16:creationId xmlns:a16="http://schemas.microsoft.com/office/drawing/2014/main" id="{A31AA73F-4D24-48A1-B14B-50392BB2C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3">
              <a:extLst>
                <a:ext uri="{FF2B5EF4-FFF2-40B4-BE49-F238E27FC236}">
                  <a16:creationId xmlns:a16="http://schemas.microsoft.com/office/drawing/2014/main" id="{B1A912C9-FD8E-4C0D-A7B5-5240BF154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4">
              <a:extLst>
                <a:ext uri="{FF2B5EF4-FFF2-40B4-BE49-F238E27FC236}">
                  <a16:creationId xmlns:a16="http://schemas.microsoft.com/office/drawing/2014/main" id="{0C687240-9008-4C95-9A83-BAE72BF3D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5">
              <a:extLst>
                <a:ext uri="{FF2B5EF4-FFF2-40B4-BE49-F238E27FC236}">
                  <a16:creationId xmlns:a16="http://schemas.microsoft.com/office/drawing/2014/main" id="{7E87EBB2-C786-4064-9E78-21C52E76F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6AEC0C10-BB8D-4A8E-8160-9B514B5F7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7">
              <a:extLst>
                <a:ext uri="{FF2B5EF4-FFF2-40B4-BE49-F238E27FC236}">
                  <a16:creationId xmlns:a16="http://schemas.microsoft.com/office/drawing/2014/main" id="{3E2AE5E5-81C4-4817-85A9-6700C135C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8">
              <a:extLst>
                <a:ext uri="{FF2B5EF4-FFF2-40B4-BE49-F238E27FC236}">
                  <a16:creationId xmlns:a16="http://schemas.microsoft.com/office/drawing/2014/main" id="{0E29C0C2-2A04-4AC1-9181-B811A06BE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9">
              <a:extLst>
                <a:ext uri="{FF2B5EF4-FFF2-40B4-BE49-F238E27FC236}">
                  <a16:creationId xmlns:a16="http://schemas.microsoft.com/office/drawing/2014/main" id="{13DA17A5-17E1-4B7D-9ABD-C7ED44F15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0">
              <a:extLst>
                <a:ext uri="{FF2B5EF4-FFF2-40B4-BE49-F238E27FC236}">
                  <a16:creationId xmlns:a16="http://schemas.microsoft.com/office/drawing/2014/main" id="{7C6F6843-161E-4C29-A663-8DBA4D483D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1">
              <a:extLst>
                <a:ext uri="{FF2B5EF4-FFF2-40B4-BE49-F238E27FC236}">
                  <a16:creationId xmlns:a16="http://schemas.microsoft.com/office/drawing/2014/main" id="{A516671D-8E1D-4713-BE9D-81B0C35FE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2">
              <a:extLst>
                <a:ext uri="{FF2B5EF4-FFF2-40B4-BE49-F238E27FC236}">
                  <a16:creationId xmlns:a16="http://schemas.microsoft.com/office/drawing/2014/main" id="{4E04D4C8-7532-4BBD-9AF8-3249324AF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87488CD-16CF-4BC7-BD9F-4F4EB13B0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07" name="Freeform 27">
              <a:extLst>
                <a:ext uri="{FF2B5EF4-FFF2-40B4-BE49-F238E27FC236}">
                  <a16:creationId xmlns:a16="http://schemas.microsoft.com/office/drawing/2014/main" id="{40224168-C932-4F63-8CEA-2465E192B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:a16="http://schemas.microsoft.com/office/drawing/2014/main" id="{F2291983-5E57-490B-B713-0A78B584F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9">
              <a:extLst>
                <a:ext uri="{FF2B5EF4-FFF2-40B4-BE49-F238E27FC236}">
                  <a16:creationId xmlns:a16="http://schemas.microsoft.com/office/drawing/2014/main" id="{815C3A19-E287-48A6-9ECB-D0409D37F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30">
              <a:extLst>
                <a:ext uri="{FF2B5EF4-FFF2-40B4-BE49-F238E27FC236}">
                  <a16:creationId xmlns:a16="http://schemas.microsoft.com/office/drawing/2014/main" id="{0196FC81-2B97-4747-859B-2475FFD12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43A76FF0-4A33-44A0-AE53-92146AA8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32">
              <a:extLst>
                <a:ext uri="{FF2B5EF4-FFF2-40B4-BE49-F238E27FC236}">
                  <a16:creationId xmlns:a16="http://schemas.microsoft.com/office/drawing/2014/main" id="{B94FC67F-70D7-496B-BFA2-B2AACF2ED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33">
              <a:extLst>
                <a:ext uri="{FF2B5EF4-FFF2-40B4-BE49-F238E27FC236}">
                  <a16:creationId xmlns:a16="http://schemas.microsoft.com/office/drawing/2014/main" id="{761C78BD-A48E-4171-AC10-D066FDF46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34">
              <a:extLst>
                <a:ext uri="{FF2B5EF4-FFF2-40B4-BE49-F238E27FC236}">
                  <a16:creationId xmlns:a16="http://schemas.microsoft.com/office/drawing/2014/main" id="{8DD13455-5B55-48B7-AA52-981C48B3F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35">
              <a:extLst>
                <a:ext uri="{FF2B5EF4-FFF2-40B4-BE49-F238E27FC236}">
                  <a16:creationId xmlns:a16="http://schemas.microsoft.com/office/drawing/2014/main" id="{8AFF35F4-12AC-44F3-AC19-88F2E3F9B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36">
              <a:extLst>
                <a:ext uri="{FF2B5EF4-FFF2-40B4-BE49-F238E27FC236}">
                  <a16:creationId xmlns:a16="http://schemas.microsoft.com/office/drawing/2014/main" id="{410D4BFE-B9DB-440B-BF78-21B4F317F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37">
              <a:extLst>
                <a:ext uri="{FF2B5EF4-FFF2-40B4-BE49-F238E27FC236}">
                  <a16:creationId xmlns:a16="http://schemas.microsoft.com/office/drawing/2014/main" id="{8F0E6EB0-F23E-4342-9FBD-3178F4B81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38">
              <a:extLst>
                <a:ext uri="{FF2B5EF4-FFF2-40B4-BE49-F238E27FC236}">
                  <a16:creationId xmlns:a16="http://schemas.microsoft.com/office/drawing/2014/main" id="{3A4E0803-C8CF-4E6B-95EF-BBEBF237E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6D9986E-2FC4-4377-B163-42766AD82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0" name="Freeform 11">
            <a:extLst>
              <a:ext uri="{FF2B5EF4-FFF2-40B4-BE49-F238E27FC236}">
                <a16:creationId xmlns:a16="http://schemas.microsoft.com/office/drawing/2014/main" id="{50807C25-453D-4A47-A22C-3AE0C4E0E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9F2E081B-CB5A-48B7-A440-B179A2EFB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FC9F6-B018-416E-4A6E-8A5630B2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Airbnb Dataset -  </a:t>
            </a:r>
            <a:r>
              <a:rPr lang="en-US" sz="2800" b="1" dirty="0" err="1"/>
              <a:t>InsideAirbnb</a:t>
            </a:r>
            <a:r>
              <a:rPr lang="en-US" sz="2800" b="1" dirty="0"/>
              <a:t> Cape Town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12F442E-AE2B-4E8D-B609-E1E0A01DA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220F-4C36-47B3-4A63-FEA590FA4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766" y="2449700"/>
            <a:ext cx="3872312" cy="26433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SzPct val="100000"/>
            </a:pPr>
            <a:r>
              <a:rPr lang="en-US" sz="1400" b="1" dirty="0"/>
              <a:t>Source: </a:t>
            </a:r>
            <a:r>
              <a:rPr lang="en-US" sz="1400" dirty="0" err="1"/>
              <a:t>InsideAirbnb</a:t>
            </a:r>
            <a:endParaRPr lang="en-US" sz="1400" dirty="0"/>
          </a:p>
          <a:p>
            <a:pPr>
              <a:buSzPct val="100000"/>
            </a:pPr>
            <a:r>
              <a:rPr lang="en-US" sz="1400" b="1" dirty="0"/>
              <a:t>Dataset: </a:t>
            </a:r>
            <a:r>
              <a:rPr lang="en-US" sz="1400" dirty="0"/>
              <a:t>June 2025 &amp; September 2025</a:t>
            </a:r>
            <a:endParaRPr lang="en-US" sz="1400" b="1" dirty="0"/>
          </a:p>
          <a:p>
            <a:pPr>
              <a:buSzPct val="100000"/>
            </a:pPr>
            <a:r>
              <a:rPr lang="en-US" sz="1400" b="1" dirty="0"/>
              <a:t>Required fields: </a:t>
            </a:r>
            <a:r>
              <a:rPr lang="en-US" sz="1400" dirty="0"/>
              <a:t>Only kept columns that directly support business analysis - pricing, occupancy, host performance, guest reviews etc.</a:t>
            </a:r>
          </a:p>
          <a:p>
            <a:pPr>
              <a:buSzPct val="100000"/>
            </a:pPr>
            <a:r>
              <a:rPr lang="en-US" sz="1400" dirty="0"/>
              <a:t>Eliminate irrelevant fields to ensure clean, focused data aligned with the case study objectives.</a:t>
            </a:r>
          </a:p>
          <a:p>
            <a:pPr marL="0" indent="0"/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4A5AA2-B10A-2E5B-0E0B-93D3FAE00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578" y="4160076"/>
            <a:ext cx="3360173" cy="2343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191CEF-3DDD-F2DA-51F5-CC51028A0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469" y="427434"/>
            <a:ext cx="5023997" cy="144439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0023CE0-72A7-C149-7704-3F1746293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423" y="2198382"/>
            <a:ext cx="3394926" cy="3259129"/>
          </a:xfrm>
          <a:prstGeom prst="rect">
            <a:avLst/>
          </a:prstGeom>
        </p:spPr>
      </p:pic>
      <p:sp>
        <p:nvSpPr>
          <p:cNvPr id="123" name="Freeform 11">
            <a:extLst>
              <a:ext uri="{FF2B5EF4-FFF2-40B4-BE49-F238E27FC236}">
                <a16:creationId xmlns:a16="http://schemas.microsoft.com/office/drawing/2014/main" id="{85667E18-65F1-4B6C-B237-5784682F8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A286D5-617C-F981-21F1-801784D5CC28}"/>
              </a:ext>
            </a:extLst>
          </p:cNvPr>
          <p:cNvSpPr txBox="1"/>
          <p:nvPr/>
        </p:nvSpPr>
        <p:spPr>
          <a:xfrm>
            <a:off x="117424" y="25324"/>
            <a:ext cx="2669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00"/>
                </a:highlight>
              </a:rPr>
              <a:t>DATA ACQUISITION</a:t>
            </a:r>
          </a:p>
        </p:txBody>
      </p:sp>
    </p:spTree>
    <p:extLst>
      <p:ext uri="{BB962C8B-B14F-4D97-AF65-F5344CB8AC3E}">
        <p14:creationId xmlns:p14="http://schemas.microsoft.com/office/powerpoint/2010/main" val="158394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308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93" name="Group 3092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3094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6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7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8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9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1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2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3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4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5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07" name="Rectangle 3106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09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111" name="Rectangle 3110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3" name="Rectangle 3112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835C1-FED7-1E13-5777-986CADEB3F8B}"/>
              </a:ext>
            </a:extLst>
          </p:cNvPr>
          <p:cNvSpPr txBox="1"/>
          <p:nvPr/>
        </p:nvSpPr>
        <p:spPr>
          <a:xfrm>
            <a:off x="540279" y="967417"/>
            <a:ext cx="3778870" cy="3943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Dimensional Data Model - Kimball Approach</a:t>
            </a:r>
          </a:p>
        </p:txBody>
      </p:sp>
      <p:sp>
        <p:nvSpPr>
          <p:cNvPr id="3115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28D52F3-A450-624F-39F5-D9CE38D7E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7088" y="185772"/>
            <a:ext cx="5302362" cy="671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FEF6C3-738B-AB18-51B0-375F7D92F39A}"/>
              </a:ext>
            </a:extLst>
          </p:cNvPr>
          <p:cNvSpPr txBox="1"/>
          <p:nvPr/>
        </p:nvSpPr>
        <p:spPr>
          <a:xfrm>
            <a:off x="117424" y="25324"/>
            <a:ext cx="2669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00"/>
                </a:highlight>
              </a:rPr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1981677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CC737-EECC-ECFF-FDD9-A889E8B2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9324B17A-20F7-D4AE-6E5B-EBF8D610B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3080" name="Freeform 11">
              <a:extLst>
                <a:ext uri="{FF2B5EF4-FFF2-40B4-BE49-F238E27FC236}">
                  <a16:creationId xmlns:a16="http://schemas.microsoft.com/office/drawing/2014/main" id="{5C6C01F7-280A-A614-CED2-BFBDD4B17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Freeform 12">
              <a:extLst>
                <a:ext uri="{FF2B5EF4-FFF2-40B4-BE49-F238E27FC236}">
                  <a16:creationId xmlns:a16="http://schemas.microsoft.com/office/drawing/2014/main" id="{6074A135-B97D-1D6F-3ED4-1F19894A1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2" name="Freeform 13">
              <a:extLst>
                <a:ext uri="{FF2B5EF4-FFF2-40B4-BE49-F238E27FC236}">
                  <a16:creationId xmlns:a16="http://schemas.microsoft.com/office/drawing/2014/main" id="{79210C9C-7530-3F0E-C4B3-BFAC68FB03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3" name="Freeform 14">
              <a:extLst>
                <a:ext uri="{FF2B5EF4-FFF2-40B4-BE49-F238E27FC236}">
                  <a16:creationId xmlns:a16="http://schemas.microsoft.com/office/drawing/2014/main" id="{7D6AD5D5-1D32-96CD-2B95-10345905B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4" name="Freeform 15">
              <a:extLst>
                <a:ext uri="{FF2B5EF4-FFF2-40B4-BE49-F238E27FC236}">
                  <a16:creationId xmlns:a16="http://schemas.microsoft.com/office/drawing/2014/main" id="{C36178FD-8989-1F87-C05F-0571844CA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5" name="Freeform 16">
              <a:extLst>
                <a:ext uri="{FF2B5EF4-FFF2-40B4-BE49-F238E27FC236}">
                  <a16:creationId xmlns:a16="http://schemas.microsoft.com/office/drawing/2014/main" id="{CB6FDD62-4846-8967-EBC3-4462B23C7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Freeform 17">
              <a:extLst>
                <a:ext uri="{FF2B5EF4-FFF2-40B4-BE49-F238E27FC236}">
                  <a16:creationId xmlns:a16="http://schemas.microsoft.com/office/drawing/2014/main" id="{82FAAFA7-1133-77CC-289E-61AC15446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7" name="Freeform 18">
              <a:extLst>
                <a:ext uri="{FF2B5EF4-FFF2-40B4-BE49-F238E27FC236}">
                  <a16:creationId xmlns:a16="http://schemas.microsoft.com/office/drawing/2014/main" id="{9331BE2F-33D9-6DC1-AF10-935AA0309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8" name="Freeform 19">
              <a:extLst>
                <a:ext uri="{FF2B5EF4-FFF2-40B4-BE49-F238E27FC236}">
                  <a16:creationId xmlns:a16="http://schemas.microsoft.com/office/drawing/2014/main" id="{FF1DEFCF-CB3C-217C-D3BC-B7F2FD1F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9" name="Freeform 20">
              <a:extLst>
                <a:ext uri="{FF2B5EF4-FFF2-40B4-BE49-F238E27FC236}">
                  <a16:creationId xmlns:a16="http://schemas.microsoft.com/office/drawing/2014/main" id="{43F11879-0A6C-F901-25F2-97FF7E6F5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Freeform 21">
              <a:extLst>
                <a:ext uri="{FF2B5EF4-FFF2-40B4-BE49-F238E27FC236}">
                  <a16:creationId xmlns:a16="http://schemas.microsoft.com/office/drawing/2014/main" id="{CC620B89-7A90-9534-F3E4-A6A9509A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1" name="Freeform 22">
              <a:extLst>
                <a:ext uri="{FF2B5EF4-FFF2-40B4-BE49-F238E27FC236}">
                  <a16:creationId xmlns:a16="http://schemas.microsoft.com/office/drawing/2014/main" id="{9E2294FA-9F97-0A2E-A672-4350516B0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93" name="Group 3092">
            <a:extLst>
              <a:ext uri="{FF2B5EF4-FFF2-40B4-BE49-F238E27FC236}">
                <a16:creationId xmlns:a16="http://schemas.microsoft.com/office/drawing/2014/main" id="{57055B08-E343-4D35-144D-1C93B05E9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3094" name="Freeform 27">
              <a:extLst>
                <a:ext uri="{FF2B5EF4-FFF2-40B4-BE49-F238E27FC236}">
                  <a16:creationId xmlns:a16="http://schemas.microsoft.com/office/drawing/2014/main" id="{387E12CE-958A-431B-EB7F-B933297B5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Freeform 28">
              <a:extLst>
                <a:ext uri="{FF2B5EF4-FFF2-40B4-BE49-F238E27FC236}">
                  <a16:creationId xmlns:a16="http://schemas.microsoft.com/office/drawing/2014/main" id="{28D03235-E483-C38E-C02D-12AD71CB9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6" name="Freeform 29">
              <a:extLst>
                <a:ext uri="{FF2B5EF4-FFF2-40B4-BE49-F238E27FC236}">
                  <a16:creationId xmlns:a16="http://schemas.microsoft.com/office/drawing/2014/main" id="{14905FC6-1173-7E91-58EE-940876674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7" name="Freeform 30">
              <a:extLst>
                <a:ext uri="{FF2B5EF4-FFF2-40B4-BE49-F238E27FC236}">
                  <a16:creationId xmlns:a16="http://schemas.microsoft.com/office/drawing/2014/main" id="{864C7D89-B035-A0AC-8892-2569C4B10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8" name="Freeform 31">
              <a:extLst>
                <a:ext uri="{FF2B5EF4-FFF2-40B4-BE49-F238E27FC236}">
                  <a16:creationId xmlns:a16="http://schemas.microsoft.com/office/drawing/2014/main" id="{1824BBFA-C857-6CDB-A1A4-997CBA8339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9" name="Freeform 32">
              <a:extLst>
                <a:ext uri="{FF2B5EF4-FFF2-40B4-BE49-F238E27FC236}">
                  <a16:creationId xmlns:a16="http://schemas.microsoft.com/office/drawing/2014/main" id="{89516253-491C-D3B7-98A2-BE1B56F67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0" name="Freeform 33">
              <a:extLst>
                <a:ext uri="{FF2B5EF4-FFF2-40B4-BE49-F238E27FC236}">
                  <a16:creationId xmlns:a16="http://schemas.microsoft.com/office/drawing/2014/main" id="{87F5E924-3FF7-D908-09EE-1D5EE1B0BD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1" name="Freeform 34">
              <a:extLst>
                <a:ext uri="{FF2B5EF4-FFF2-40B4-BE49-F238E27FC236}">
                  <a16:creationId xmlns:a16="http://schemas.microsoft.com/office/drawing/2014/main" id="{3C2B7AAA-9139-604E-1F9C-442DAC02F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2" name="Freeform 35">
              <a:extLst>
                <a:ext uri="{FF2B5EF4-FFF2-40B4-BE49-F238E27FC236}">
                  <a16:creationId xmlns:a16="http://schemas.microsoft.com/office/drawing/2014/main" id="{C9A81A75-23C7-CF30-C44E-23C4F901E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3" name="Freeform 36">
              <a:extLst>
                <a:ext uri="{FF2B5EF4-FFF2-40B4-BE49-F238E27FC236}">
                  <a16:creationId xmlns:a16="http://schemas.microsoft.com/office/drawing/2014/main" id="{35FA3F2C-9AB3-07D0-36AE-6EC70E3D3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4" name="Freeform 37">
              <a:extLst>
                <a:ext uri="{FF2B5EF4-FFF2-40B4-BE49-F238E27FC236}">
                  <a16:creationId xmlns:a16="http://schemas.microsoft.com/office/drawing/2014/main" id="{21888D32-8573-7EA4-FB4B-B27BE0DA1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5" name="Freeform 38">
              <a:extLst>
                <a:ext uri="{FF2B5EF4-FFF2-40B4-BE49-F238E27FC236}">
                  <a16:creationId xmlns:a16="http://schemas.microsoft.com/office/drawing/2014/main" id="{E3994988-4AEE-DD72-55D0-62AC7663F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07" name="Rectangle 3106">
            <a:extLst>
              <a:ext uri="{FF2B5EF4-FFF2-40B4-BE49-F238E27FC236}">
                <a16:creationId xmlns:a16="http://schemas.microsoft.com/office/drawing/2014/main" id="{7DC81DC2-329E-BF5A-638C-D7E7653E7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09" name="Freeform 6">
            <a:extLst>
              <a:ext uri="{FF2B5EF4-FFF2-40B4-BE49-F238E27FC236}">
                <a16:creationId xmlns:a16="http://schemas.microsoft.com/office/drawing/2014/main" id="{D54EC548-C846-986E-BAFE-FC34B847F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111" name="Rectangle 3110">
            <a:extLst>
              <a:ext uri="{FF2B5EF4-FFF2-40B4-BE49-F238E27FC236}">
                <a16:creationId xmlns:a16="http://schemas.microsoft.com/office/drawing/2014/main" id="{CFA245EB-D2E3-7F9F-6C28-0EE68A126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3" name="Rectangle 3112">
            <a:extLst>
              <a:ext uri="{FF2B5EF4-FFF2-40B4-BE49-F238E27FC236}">
                <a16:creationId xmlns:a16="http://schemas.microsoft.com/office/drawing/2014/main" id="{B13C0BF5-71A1-A5BA-A1DA-54D102EAB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C7351-C4CA-BDD6-7A91-4AF25B72BC07}"/>
              </a:ext>
            </a:extLst>
          </p:cNvPr>
          <p:cNvSpPr txBox="1"/>
          <p:nvPr/>
        </p:nvSpPr>
        <p:spPr>
          <a:xfrm>
            <a:off x="467666" y="3017208"/>
            <a:ext cx="3655546" cy="8667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SQL Transformation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(DDL &amp; DML)</a:t>
            </a:r>
          </a:p>
        </p:txBody>
      </p:sp>
      <p:sp>
        <p:nvSpPr>
          <p:cNvPr id="3115" name="Freeform 5">
            <a:extLst>
              <a:ext uri="{FF2B5EF4-FFF2-40B4-BE49-F238E27FC236}">
                <a16:creationId xmlns:a16="http://schemas.microsoft.com/office/drawing/2014/main" id="{5FF7232E-12F8-D00D-14A0-D5210C1A1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DCCC8C-0AD5-CADD-5880-5C53C40D7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088" y="157616"/>
            <a:ext cx="5630061" cy="64302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B6974A-DEB5-89F1-D5C1-866F2D48114E}"/>
              </a:ext>
            </a:extLst>
          </p:cNvPr>
          <p:cNvSpPr txBox="1"/>
          <p:nvPr/>
        </p:nvSpPr>
        <p:spPr>
          <a:xfrm>
            <a:off x="117424" y="25324"/>
            <a:ext cx="3244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8000"/>
                </a:highlight>
              </a:rPr>
              <a:t>DATA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8273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5E5BDC-CD53-3401-D3A3-295C33DD7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23961"/>
              </p:ext>
            </p:extLst>
          </p:nvPr>
        </p:nvGraphicFramePr>
        <p:xfrm>
          <a:off x="108488" y="3599273"/>
          <a:ext cx="10515600" cy="2100437"/>
        </p:xfrm>
        <a:graphic>
          <a:graphicData uri="http://schemas.openxmlformats.org/drawingml/2006/table">
            <a:tbl>
              <a:tblPr/>
              <a:tblGrid>
                <a:gridCol w="1211895">
                  <a:extLst>
                    <a:ext uri="{9D8B030D-6E8A-4147-A177-3AD203B41FA5}">
                      <a16:colId xmlns:a16="http://schemas.microsoft.com/office/drawing/2014/main" val="2899874158"/>
                    </a:ext>
                  </a:extLst>
                </a:gridCol>
                <a:gridCol w="699788">
                  <a:extLst>
                    <a:ext uri="{9D8B030D-6E8A-4147-A177-3AD203B41FA5}">
                      <a16:colId xmlns:a16="http://schemas.microsoft.com/office/drawing/2014/main" val="1085453320"/>
                    </a:ext>
                  </a:extLst>
                </a:gridCol>
                <a:gridCol w="632759">
                  <a:extLst>
                    <a:ext uri="{9D8B030D-6E8A-4147-A177-3AD203B41FA5}">
                      <a16:colId xmlns:a16="http://schemas.microsoft.com/office/drawing/2014/main" val="2467185389"/>
                    </a:ext>
                  </a:extLst>
                </a:gridCol>
                <a:gridCol w="611310">
                  <a:extLst>
                    <a:ext uri="{9D8B030D-6E8A-4147-A177-3AD203B41FA5}">
                      <a16:colId xmlns:a16="http://schemas.microsoft.com/office/drawing/2014/main" val="3056294828"/>
                    </a:ext>
                  </a:extLst>
                </a:gridCol>
                <a:gridCol w="943776">
                  <a:extLst>
                    <a:ext uri="{9D8B030D-6E8A-4147-A177-3AD203B41FA5}">
                      <a16:colId xmlns:a16="http://schemas.microsoft.com/office/drawing/2014/main" val="3759235620"/>
                    </a:ext>
                  </a:extLst>
                </a:gridCol>
                <a:gridCol w="825804">
                  <a:extLst>
                    <a:ext uri="{9D8B030D-6E8A-4147-A177-3AD203B41FA5}">
                      <a16:colId xmlns:a16="http://schemas.microsoft.com/office/drawing/2014/main" val="2880018602"/>
                    </a:ext>
                  </a:extLst>
                </a:gridCol>
                <a:gridCol w="1254794">
                  <a:extLst>
                    <a:ext uri="{9D8B030D-6E8A-4147-A177-3AD203B41FA5}">
                      <a16:colId xmlns:a16="http://schemas.microsoft.com/office/drawing/2014/main" val="1652570670"/>
                    </a:ext>
                  </a:extLst>
                </a:gridCol>
                <a:gridCol w="764138">
                  <a:extLst>
                    <a:ext uri="{9D8B030D-6E8A-4147-A177-3AD203B41FA5}">
                      <a16:colId xmlns:a16="http://schemas.microsoft.com/office/drawing/2014/main" val="2637028992"/>
                    </a:ext>
                  </a:extLst>
                </a:gridCol>
                <a:gridCol w="611310">
                  <a:extLst>
                    <a:ext uri="{9D8B030D-6E8A-4147-A177-3AD203B41FA5}">
                      <a16:colId xmlns:a16="http://schemas.microsoft.com/office/drawing/2014/main" val="2267828866"/>
                    </a:ext>
                  </a:extLst>
                </a:gridCol>
                <a:gridCol w="911603">
                  <a:extLst>
                    <a:ext uri="{9D8B030D-6E8A-4147-A177-3AD203B41FA5}">
                      <a16:colId xmlns:a16="http://schemas.microsoft.com/office/drawing/2014/main" val="1344169023"/>
                    </a:ext>
                  </a:extLst>
                </a:gridCol>
                <a:gridCol w="600585">
                  <a:extLst>
                    <a:ext uri="{9D8B030D-6E8A-4147-A177-3AD203B41FA5}">
                      <a16:colId xmlns:a16="http://schemas.microsoft.com/office/drawing/2014/main" val="2627030130"/>
                    </a:ext>
                  </a:extLst>
                </a:gridCol>
                <a:gridCol w="579135">
                  <a:extLst>
                    <a:ext uri="{9D8B030D-6E8A-4147-A177-3AD203B41FA5}">
                      <a16:colId xmlns:a16="http://schemas.microsoft.com/office/drawing/2014/main" val="2409738628"/>
                    </a:ext>
                  </a:extLst>
                </a:gridCol>
                <a:gridCol w="868703">
                  <a:extLst>
                    <a:ext uri="{9D8B030D-6E8A-4147-A177-3AD203B41FA5}">
                      <a16:colId xmlns:a16="http://schemas.microsoft.com/office/drawing/2014/main" val="1161112188"/>
                    </a:ext>
                  </a:extLst>
                </a:gridCol>
              </a:tblGrid>
              <a:tr h="160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temp_mean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temp_max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temp_min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precip_sum_mm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rain_sum_mm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wind_max_speed_kmh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listing_count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avg_rating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avg_cleanliness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avg_value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avg_price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avg_occupancy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80891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temp_mean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799829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temp_max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0.90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101115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temp_min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0.80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0.49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D8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211316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precip_sum_mm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(0.50)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3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(0.65)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(0.14)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38500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rain_sum_mm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(0.50)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3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(0.65)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(0.14)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71703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wind_max_speed_kmh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(0.11)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(0.36)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0.16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0.56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D4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0.56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D4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931676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listing_count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0.72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C7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0.65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0.51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(0.48)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8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(0.48)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8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   0.02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211445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avg_rating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(0.06)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(0.12)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0.10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0.05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0.05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(0.35)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F7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0.05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995068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avg_cleanliness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(0.06)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(0.12)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0.11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0.06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0.06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(0.34)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F7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0.05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369431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avg_value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(0.07)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(0.14)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4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0.11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A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0.08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0.08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(0.32)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0.04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676503"/>
                  </a:ext>
                </a:extLst>
              </a:tr>
              <a:tr h="1609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avg_price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0.19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0.39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(0.02)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(0.45)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C7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(0.45)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C7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(0.53)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E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0.10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0.59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0.59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0.57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3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368862"/>
                  </a:ext>
                </a:extLst>
              </a:tr>
              <a:tr h="1690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avg_occupancy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0.32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0.35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0.11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(0.53)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E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(0.53)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E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           (0.29)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97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0.39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(0.51)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(0.51)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(0.52)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0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(0.42)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7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1.00 </a:t>
                      </a:r>
                    </a:p>
                  </a:txBody>
                  <a:tcPr marL="8048" marR="8048" marT="804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5470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CA41FB0-E687-C7B8-37A7-41B9FCC40E31}"/>
              </a:ext>
            </a:extLst>
          </p:cNvPr>
          <p:cNvSpPr txBox="1"/>
          <p:nvPr/>
        </p:nvSpPr>
        <p:spPr>
          <a:xfrm>
            <a:off x="108488" y="5831174"/>
            <a:ext cx="119585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clearly no correlation between weather conditions and the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Location of the property shows that some wards score better ratings than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Room type also shows some variations in ratings, but it is not that significant.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Cleanliness, value and price actually show positive correlation with ratings.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0B4FA6B-C9B5-AB5D-A1F9-DFF9BE0469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403086"/>
              </p:ext>
            </p:extLst>
          </p:nvPr>
        </p:nvGraphicFramePr>
        <p:xfrm>
          <a:off x="5971082" y="189324"/>
          <a:ext cx="6096000" cy="3218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64CB436-B2AA-97F5-7B68-CF61FF2F2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4118260"/>
              </p:ext>
            </p:extLst>
          </p:nvPr>
        </p:nvGraphicFramePr>
        <p:xfrm>
          <a:off x="0" y="189324"/>
          <a:ext cx="5864745" cy="3218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05665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091DD-5E46-3181-9870-BBD5CC43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89AF-3C41-819D-9835-F3516C50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207" y="257818"/>
            <a:ext cx="2835585" cy="702302"/>
          </a:xfrm>
        </p:spPr>
        <p:txBody>
          <a:bodyPr/>
          <a:lstStyle/>
          <a:p>
            <a:r>
              <a:rPr lang="en-US" b="1" dirty="0"/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85DB-0E83-4FC9-67C3-3692698A3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7934" y="1646291"/>
            <a:ext cx="3858162" cy="345291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OpenWeather</a:t>
            </a:r>
            <a:r>
              <a:rPr lang="en-US" dirty="0">
                <a:latin typeface="Aptos" panose="020B0004020202020204" pitchFamily="34" charset="0"/>
              </a:rPr>
              <a:t> API required paid subscription.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InsideAirbnb</a:t>
            </a:r>
            <a:r>
              <a:rPr lang="en-US" dirty="0">
                <a:latin typeface="Aptos" panose="020B0004020202020204" pitchFamily="34" charset="0"/>
              </a:rPr>
              <a:t> Dec 2023 data unavailable.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Raw CSV data too messy for direct SQL load - mixed types, nulls, bad values 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Staged all columns as NVARCHAR. TRY_CAST in views - Pipeline stays live.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Optimize SQL Query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8D953-794F-9CB0-F914-1AF10022C3B8}"/>
              </a:ext>
            </a:extLst>
          </p:cNvPr>
          <p:cNvSpPr txBox="1"/>
          <p:nvPr/>
        </p:nvSpPr>
        <p:spPr>
          <a:xfrm>
            <a:off x="1605858" y="73152"/>
            <a:ext cx="245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8000"/>
                </a:highlight>
              </a:rPr>
              <a:t>PROBLEM SOLVING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7A1750-0040-C25F-220F-3F43129F6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835" y="775609"/>
            <a:ext cx="3376279" cy="25971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F04AA5-D344-D7A2-7A79-DF51D4D02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951" y="4981313"/>
            <a:ext cx="3858163" cy="18766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3BF44D-ECD9-F94D-D00C-2D06A8D1B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604" y="3485253"/>
            <a:ext cx="5731510" cy="14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6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68E4-9362-F3B3-69DF-B2B6AE89C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061" y="578390"/>
            <a:ext cx="4886867" cy="1280890"/>
          </a:xfrm>
        </p:spPr>
        <p:txBody>
          <a:bodyPr/>
          <a:lstStyle/>
          <a:p>
            <a:r>
              <a:rPr lang="en-US" b="1" dirty="0"/>
              <a:t>Things to do in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5E03E-2BFE-A329-5F2F-C9473E8A7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Pipeline Automation - </a:t>
            </a:r>
            <a:r>
              <a:rPr lang="en-US" dirty="0">
                <a:solidFill>
                  <a:srgbClr val="334155"/>
                </a:solidFill>
              </a:rPr>
              <a:t>Orchestrate - scheduled daily ingestion runs.</a:t>
            </a:r>
          </a:p>
          <a:p>
            <a:r>
              <a:rPr lang="en-US" b="1" dirty="0"/>
              <a:t>Seasonal Analysis - </a:t>
            </a:r>
            <a:r>
              <a:rPr lang="en-US" dirty="0">
                <a:solidFill>
                  <a:srgbClr val="334155"/>
                </a:solidFill>
              </a:rPr>
              <a:t>Extend to 12 months to surface seasonality trends and year on year comparisons.</a:t>
            </a:r>
          </a:p>
          <a:p>
            <a:r>
              <a:rPr lang="en-US" b="1" dirty="0"/>
              <a:t>Cloud Deployment - </a:t>
            </a:r>
            <a:r>
              <a:rPr lang="en-US" dirty="0"/>
              <a:t>Host on AWS</a:t>
            </a:r>
          </a:p>
          <a:p>
            <a:r>
              <a:rPr lang="en-US" b="1" dirty="0"/>
              <a:t>Predictive Modelling - </a:t>
            </a:r>
            <a:r>
              <a:rPr lang="en-US" dirty="0">
                <a:solidFill>
                  <a:srgbClr val="334155"/>
                </a:solidFill>
              </a:rPr>
              <a:t>Build a price or occupancy predictor using weather forecasts + historical data.</a:t>
            </a:r>
            <a:endParaRPr lang="en-US" dirty="0"/>
          </a:p>
          <a:p>
            <a:r>
              <a:rPr lang="en-US" b="1" dirty="0"/>
              <a:t>Slowly Changing Dimensions (SCDs) - </a:t>
            </a:r>
            <a:r>
              <a:rPr lang="en-US" dirty="0" err="1"/>
              <a:t>dim_host</a:t>
            </a:r>
            <a:r>
              <a:rPr lang="en-US" dirty="0"/>
              <a:t> &amp; </a:t>
            </a:r>
            <a:r>
              <a:rPr lang="en-US" dirty="0" err="1"/>
              <a:t>dim_property</a:t>
            </a:r>
            <a:endParaRPr lang="en-US" dirty="0"/>
          </a:p>
          <a:p>
            <a:r>
              <a:rPr lang="en-US" b="1" dirty="0"/>
              <a:t>Data Quality Monitoring </a:t>
            </a:r>
            <a:r>
              <a:rPr lang="en-US" dirty="0"/>
              <a:t>- Add a checking step between STG raw and STG clean that catches and logs bad data before it reaches the DWH. </a:t>
            </a:r>
          </a:p>
          <a:p>
            <a:r>
              <a:rPr lang="en-US" dirty="0"/>
              <a:t>This becomes critical once the pipeline is automated and cloud-hosted, as bad data could flow into the views undetected for days with no one manually watching.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F557A-8442-ACB9-E2BC-E89D5C577302}"/>
              </a:ext>
            </a:extLst>
          </p:cNvPr>
          <p:cNvSpPr txBox="1"/>
          <p:nvPr/>
        </p:nvSpPr>
        <p:spPr>
          <a:xfrm>
            <a:off x="1601660" y="82296"/>
            <a:ext cx="309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8000"/>
                </a:highlight>
              </a:rPr>
              <a:t>INITIATIVE &amp;VISION</a:t>
            </a:r>
          </a:p>
        </p:txBody>
      </p:sp>
    </p:spTree>
    <p:extLst>
      <p:ext uri="{BB962C8B-B14F-4D97-AF65-F5344CB8AC3E}">
        <p14:creationId xmlns:p14="http://schemas.microsoft.com/office/powerpoint/2010/main" val="200815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4699877-13E3-4FC1-B91B-2A8A8FA76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BC4CB122-E2DC-4CA5-8B6F-B49249C7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267478" cy="6858000"/>
          </a:xfrm>
          <a:prstGeom prst="rect">
            <a:avLst/>
          </a:prstGeom>
          <a:solidFill>
            <a:schemeClr val="bg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7AB22E03-3087-4988-9DB5-572918FB9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9212" y="313809"/>
            <a:ext cx="9281055" cy="6222458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Freeform 5">
            <a:extLst>
              <a:ext uri="{FF2B5EF4-FFF2-40B4-BE49-F238E27FC236}">
                <a16:creationId xmlns:a16="http://schemas.microsoft.com/office/drawing/2014/main" id="{4B2A5927-4A36-47DC-BF12-54A96B456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823682"/>
            <a:ext cx="3536576" cy="857047"/>
          </a:xfrm>
          <a:prstGeom prst="rightArrow">
            <a:avLst>
              <a:gd name="adj1" fmla="val 100000"/>
              <a:gd name="adj2" fmla="val 44189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 descr="Thank you Images - Free Download on Magnific (formerly Freepik)">
            <a:extLst>
              <a:ext uri="{FF2B5EF4-FFF2-40B4-BE49-F238E27FC236}">
                <a16:creationId xmlns:a16="http://schemas.microsoft.com/office/drawing/2014/main" id="{66730797-3003-D4CB-D478-274A81BF7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3094" y="668695"/>
            <a:ext cx="7594802" cy="537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4608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BBD3DD0C589D418F22EB3FE6282250" ma:contentTypeVersion="5" ma:contentTypeDescription="Create a new document." ma:contentTypeScope="" ma:versionID="d1fc8308d75bdef59f2e5dce8510c185">
  <xsd:schema xmlns:xsd="http://www.w3.org/2001/XMLSchema" xmlns:xs="http://www.w3.org/2001/XMLSchema" xmlns:p="http://schemas.microsoft.com/office/2006/metadata/properties" xmlns:ns3="2dd2ffaa-09d2-4bd8-b101-a4ab4464f65b" targetNamespace="http://schemas.microsoft.com/office/2006/metadata/properties" ma:root="true" ma:fieldsID="8f41bc7da61ef35d505856a723896c3b" ns3:_="">
    <xsd:import namespace="2dd2ffaa-09d2-4bd8-b101-a4ab4464f65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2ffaa-09d2-4bd8-b101-a4ab4464f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A86338-C7A5-4A46-A708-008633414E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CBF382-E5F1-4292-A4FD-457E205307A8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2dd2ffaa-09d2-4bd8-b101-a4ab4464f65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342F316-3179-450C-BCD3-6D4DC2AF1D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d2ffaa-09d2-4bd8-b101-a4ab4464f6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1734</TotalTime>
  <Words>863</Words>
  <Application>Microsoft Office PowerPoint</Application>
  <PresentationFormat>Widescreen</PresentationFormat>
  <Paragraphs>209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Narrow</vt:lpstr>
      <vt:lpstr>Arial</vt:lpstr>
      <vt:lpstr>Calibri</vt:lpstr>
      <vt:lpstr>Century Gothic</vt:lpstr>
      <vt:lpstr>Wingdings 3</vt:lpstr>
      <vt:lpstr>Wisp</vt:lpstr>
      <vt:lpstr>Cape Town Airbnb Ratings &amp; Weather Analysis</vt:lpstr>
      <vt:lpstr>Problem Statement &amp; Objective</vt:lpstr>
      <vt:lpstr>Solution Architecture</vt:lpstr>
      <vt:lpstr>Weather Data - Open Meteo API</vt:lpstr>
      <vt:lpstr>Airbnb Dataset -  InsideAirbnb Cape Town</vt:lpstr>
      <vt:lpstr>PowerPoint Presentation</vt:lpstr>
      <vt:lpstr>PowerPoint Presentation</vt:lpstr>
      <vt:lpstr>PowerPoint Presentation</vt:lpstr>
      <vt:lpstr>Challenges </vt:lpstr>
      <vt:lpstr>Things to do in future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PHILA DYANTYI</dc:creator>
  <cp:lastModifiedBy>PHILA DYANTYI</cp:lastModifiedBy>
  <cp:revision>4</cp:revision>
  <dcterms:created xsi:type="dcterms:W3CDTF">2026-05-19T18:52:30Z</dcterms:created>
  <dcterms:modified xsi:type="dcterms:W3CDTF">2026-05-30T17:16:20Z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0x01010026BBD3DD0C589D418F22EB3FE6282250</vt:lpwstr>
  </property>
</Properties>
</file>